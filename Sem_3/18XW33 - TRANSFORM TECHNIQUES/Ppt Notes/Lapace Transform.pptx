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8CF0C639-91C9-4BD2-B224-C65D0F3047A4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10/12/20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44EB2F6-571E-428F-8B70-D207F2B6533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A69A6725-E7D2-4383-87EE-EFE2CD9BF829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10/12/20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AEA7466-75EC-4187-8D6E-67D396AF82E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77480" y="191160"/>
            <a:ext cx="12014280" cy="170568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55000"/>
          </a:bodyPr>
          <a:p>
            <a:pPr algn="ctr">
              <a:lnSpc>
                <a:spcPct val="90000"/>
              </a:lnSpc>
            </a:pPr>
            <a:r>
              <a:rPr b="1" lang="en-US" sz="6000" spc="-1" strike="noStrike">
                <a:solidFill>
                  <a:srgbClr val="70ad47"/>
                </a:solidFill>
                <a:latin typeface="Calibri Light"/>
              </a:rPr>
              <a:t>Department of Applied Mathematics and Computational Sciences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982800" y="2715840"/>
            <a:ext cx="9685080" cy="15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III Sem M.Sc.Software Systems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Transform Techniques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Dr. V. Suresh kumar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606240" y="1419480"/>
            <a:ext cx="10515240" cy="37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</a:pPr>
            <a:r>
              <a:rPr b="1" lang="en-US" sz="6600" spc="-1" strike="noStrike">
                <a:solidFill>
                  <a:srgbClr val="1f4e79"/>
                </a:solidFill>
                <a:latin typeface="Calibri Light"/>
              </a:rPr>
              <a:t>Laplace Transform</a:t>
            </a:r>
            <a:endParaRPr b="0" lang="en-US" sz="6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0" y="122760"/>
            <a:ext cx="2811240" cy="658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32000"/>
          </a:bodyPr>
          <a:p>
            <a:pPr>
              <a:lnSpc>
                <a:spcPct val="90000"/>
              </a:lnSpc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Definition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674280" y="1047600"/>
            <a:ext cx="10515240" cy="12448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Let  be a function defined for all , the </a:t>
            </a:r>
            <a:r>
              <a:rPr b="0" lang="en-US" sz="2800" spc="-1" strike="noStrike">
                <a:solidFill>
                  <a:srgbClr val="2e75b6"/>
                </a:solidFill>
                <a:latin typeface="Calibri"/>
              </a:rPr>
              <a:t>Laplace Transform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of denoted by </a:t>
            </a:r>
            <a:r>
              <a:rPr b="0" lang="en-US" sz="3600" spc="-1" strike="noStrike">
                <a:solidFill>
                  <a:srgbClr val="000000"/>
                </a:solidFill>
                <a:latin typeface="Blackadder ITC"/>
              </a:rPr>
              <a:t>L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7" name="Formula 3"/>
              <p:cNvSpPr txBox="1"/>
              <p:nvPr/>
            </p:nvSpPr>
            <p:spPr>
              <a:xfrm>
                <a:off x="2634120" y="2559240"/>
                <a:ext cx="5425920" cy="1198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𝑓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</m:e>
                    </m:d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𝑠𝑡</m:t>
                            </m:r>
                          </m:sup>
                        </m:sSup>
                      </m:e>
                    </m:nary>
                    <m:r>
                      <m:t xml:space="preserve">𝑓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𝑡</m:t>
                        </m:r>
                      </m:e>
                    </m:d>
                    <m:r>
                      <m:t xml:space="preserve">𝑑𝑡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88" name="Formula 4"/>
              <p:cNvSpPr txBox="1"/>
              <p:nvPr/>
            </p:nvSpPr>
            <p:spPr>
              <a:xfrm>
                <a:off x="3040920" y="4435560"/>
                <a:ext cx="3070440" cy="553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r>
                      <m:t xml:space="preserve">{</m:t>
                    </m:r>
                    <m:r>
                      <m:t xml:space="preserve">𝑓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𝑡</m:t>
                        </m:r>
                      </m:e>
                    </m:d>
                    <m:r>
                      <m:t xml:space="preserve">}</m:t>
                    </m:r>
                    <m:r>
                      <m:t xml:space="preserve">=</m:t>
                    </m:r>
                    <m:r>
                      <m:t xml:space="preserve">𝐹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𝑠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1)" transition="in">
                                      <p:cBhvr additive="repl">
                                        <p:cTn id="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87480" y="51120"/>
            <a:ext cx="2600640" cy="740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c00000"/>
                </a:solidFill>
                <a:latin typeface="Calibri Light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524160" y="952200"/>
            <a:ext cx="10515240" cy="589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Find the Laplace Transform of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368640" y="1678680"/>
            <a:ext cx="1705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c00000"/>
                </a:solidFill>
                <a:latin typeface="Calibri"/>
              </a:rPr>
              <a:t>Solution</a:t>
            </a:r>
            <a:endParaRPr b="0" lang="en-IN" sz="24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2" name="Formula 4"/>
              <p:cNvSpPr txBox="1"/>
              <p:nvPr/>
            </p:nvSpPr>
            <p:spPr>
              <a:xfrm>
                <a:off x="3234600" y="2559240"/>
                <a:ext cx="4825440" cy="798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𝑓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</m:e>
                    </m:d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𝑠𝑡</m:t>
                            </m:r>
                          </m:sup>
                        </m:sSup>
                      </m:e>
                    </m:nary>
                    <m:r>
                      <m:t xml:space="preserve">𝑓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𝑡</m:t>
                        </m:r>
                      </m:e>
                    </m:d>
                    <m:r>
                      <m:t xml:space="preserve">𝑑𝑡</m:t>
                    </m:r>
                  </m:oMath>
                </a14:m>
              </a:p>
            </p:txBody>
          </p:sp>
        </mc:Choice>
        <mc:Fallback/>
      </mc:AlternateContent>
      <p:sp>
        <p:nvSpPr>
          <p:cNvPr id="93" name="CustomShape 5"/>
          <p:cNvSpPr/>
          <p:nvPr/>
        </p:nvSpPr>
        <p:spPr>
          <a:xfrm>
            <a:off x="1401840" y="2727720"/>
            <a:ext cx="1705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We have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4" name="CustomShape 6"/>
          <p:cNvSpPr/>
          <p:nvPr/>
        </p:nvSpPr>
        <p:spPr>
          <a:xfrm>
            <a:off x="3756960" y="3761280"/>
            <a:ext cx="6458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As </a:t>
            </a:r>
            <a:endParaRPr b="0" lang="en-IN" sz="24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5" name="Formula 7"/>
              <p:cNvSpPr txBox="1"/>
              <p:nvPr/>
            </p:nvSpPr>
            <p:spPr>
              <a:xfrm>
                <a:off x="2254680" y="4543920"/>
                <a:ext cx="4825440" cy="798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d>
                      <m:dPr>
                        <m:begChr m:val="{"/>
                        <m:endChr m:val="}"/>
                      </m:dPr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𝑎𝑡</m:t>
                            </m:r>
                          </m:sup>
                        </m:sSup>
                      </m:e>
                    </m:d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𝑠𝑡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t xml:space="preserve">𝑒</m:t>
                        </m:r>
                      </m:e>
                      <m:sup>
                        <m:r>
                          <m:t xml:space="preserve">𝑎𝑡</m:t>
                        </m:r>
                      </m:sup>
                    </m:sSup>
                    <m:r>
                      <m:t xml:space="preserve">𝑑𝑡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96" name="Formula 8"/>
              <p:cNvSpPr txBox="1"/>
              <p:nvPr/>
            </p:nvSpPr>
            <p:spPr>
              <a:xfrm>
                <a:off x="2254680" y="5577480"/>
                <a:ext cx="4825440" cy="798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−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𝑠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𝑎</m:t>
                                </m:r>
                              </m:e>
                            </m:d>
                            <m:r>
                              <m:t xml:space="preserve">𝑡</m:t>
                            </m:r>
                          </m:sup>
                        </m:sSup>
                      </m:e>
                    </m:nary>
                    <m:r>
                      <m:t xml:space="preserve">𝑑𝑡</m:t>
                    </m:r>
                  </m:oMath>
                </a14:m>
              </a:p>
            </p:txBody>
          </p:sp>
        </mc:Choice>
        <mc:Fallback/>
      </mc:AlternateContent>
      <p:sp>
        <p:nvSpPr>
          <p:cNvPr id="97" name="CustomShape 9"/>
          <p:cNvSpPr/>
          <p:nvPr/>
        </p:nvSpPr>
        <p:spPr>
          <a:xfrm>
            <a:off x="8659440" y="3811320"/>
            <a:ext cx="35460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= </a:t>
            </a:r>
            <a:endParaRPr b="0" lang="en-IN" sz="24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8" name="Formula 10"/>
              <p:cNvSpPr txBox="1"/>
              <p:nvPr/>
            </p:nvSpPr>
            <p:spPr>
              <a:xfrm>
                <a:off x="7377840" y="5263560"/>
                <a:ext cx="2507400" cy="851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d>
                      <m:dPr>
                        <m:begChr m:val="{"/>
                        <m:endChr m:val="}"/>
                      </m:dPr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𝑎𝑡</m:t>
                            </m:r>
                          </m:sup>
                        </m:sSup>
                      </m:e>
                    </m:d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𝑠</m:t>
                            </m:r>
                            <m:r>
                              <m:t xml:space="preserve">−</m:t>
                            </m:r>
                            <m:r>
                              <m:t xml:space="preserve">𝑎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99" name="Formula 11"/>
              <p:cNvSpPr txBox="1"/>
              <p:nvPr/>
            </p:nvSpPr>
            <p:spPr>
              <a:xfrm>
                <a:off x="10372320" y="5550840"/>
                <a:ext cx="1334160" cy="369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𝑠</m:t>
                    </m:r>
                    <m:r>
                      <m:t xml:space="preserve">−</m:t>
                    </m:r>
                    <m:r>
                      <m:t xml:space="preserve">𝑎</m:t>
                    </m:r>
                    <m:r>
                      <m:t xml:space="preserve">&gt;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00" name="CustomShape 12"/>
          <p:cNvSpPr/>
          <p:nvPr/>
        </p:nvSpPr>
        <p:spPr>
          <a:xfrm>
            <a:off x="7377840" y="5063400"/>
            <a:ext cx="2721240" cy="1312920"/>
          </a:xfrm>
          <a:prstGeom prst="rect">
            <a:avLst/>
          </a:prstGeom>
          <a:noFill/>
          <a:ln w="2556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387720" y="365040"/>
            <a:ext cx="1508760" cy="644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1000"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c00000"/>
                </a:solidFill>
                <a:latin typeface="Calibri Light"/>
              </a:rPr>
              <a:t>Note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990720" y="3995640"/>
            <a:ext cx="9015120" cy="589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By the same time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3" name="Formula 3"/>
              <p:cNvSpPr txBox="1"/>
              <p:nvPr/>
            </p:nvSpPr>
            <p:spPr>
              <a:xfrm>
                <a:off x="5046840" y="2439000"/>
                <a:ext cx="2346120" cy="79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𝐿</m:t>
                        </m:r>
                        <m:r>
                          <m:t xml:space="preserve">{</m:t>
                        </m:r>
                        <m:r>
                          <m:t xml:space="preserve">𝑒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𝑎𝑡</m:t>
                        </m:r>
                      </m:sup>
                    </m:sSup>
                    <m:r>
                      <m:t xml:space="preserve">}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𝑠</m:t>
                        </m:r>
                        <m:r>
                          <m:t xml:space="preserve">+</m:t>
                        </m:r>
                        <m:r>
                          <m:t xml:space="preserve">𝑎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104" name="CustomShape 4"/>
          <p:cNvSpPr/>
          <p:nvPr/>
        </p:nvSpPr>
        <p:spPr>
          <a:xfrm>
            <a:off x="894960" y="1674720"/>
            <a:ext cx="9015120" cy="58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rmAutofit fontScale="54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It is easy to obtain that the Laplace Transform of </a:t>
            </a:r>
            <a:endParaRPr b="0" lang="en-IN" sz="28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5" name="Formula 5"/>
              <p:cNvSpPr txBox="1"/>
              <p:nvPr/>
            </p:nvSpPr>
            <p:spPr>
              <a:xfrm>
                <a:off x="2134080" y="4740120"/>
                <a:ext cx="2162160" cy="785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𝐿</m:t>
                        </m:r>
                        <m:r>
                          <m:t xml:space="preserve">{</m:t>
                        </m:r>
                        <m:r>
                          <m:t xml:space="preserve">𝑒</m:t>
                        </m:r>
                      </m:e>
                      <m:sup>
                        <m:r>
                          <m:t xml:space="preserve">2</m:t>
                        </m:r>
                        <m:r>
                          <m:t xml:space="preserve">𝑡</m:t>
                        </m:r>
                      </m:sup>
                    </m:sSup>
                    <m:r>
                      <m:t xml:space="preserve">}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𝑠</m:t>
                        </m:r>
                        <m:r>
                          <m:t xml:space="preserve">−</m:t>
                        </m:r>
                        <m:r>
                          <m:t xml:space="preserve">2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6" name="Formula 6"/>
              <p:cNvSpPr txBox="1"/>
              <p:nvPr/>
            </p:nvSpPr>
            <p:spPr>
              <a:xfrm>
                <a:off x="4795200" y="4747320"/>
                <a:ext cx="2325600" cy="79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𝐿</m:t>
                        </m:r>
                        <m:r>
                          <m:t xml:space="preserve">{</m:t>
                        </m:r>
                        <m:r>
                          <m:t xml:space="preserve">𝑒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3</m:t>
                        </m:r>
                        <m:r>
                          <m:t xml:space="preserve">𝑡</m:t>
                        </m:r>
                      </m:sup>
                    </m:sSup>
                    <m:r>
                      <m:t xml:space="preserve">}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𝑠</m:t>
                        </m:r>
                        <m:r>
                          <m:t xml:space="preserve">+</m:t>
                        </m:r>
                        <m:r>
                          <m:t xml:space="preserve">3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7" name="Formula 7"/>
              <p:cNvSpPr txBox="1"/>
              <p:nvPr/>
            </p:nvSpPr>
            <p:spPr>
              <a:xfrm>
                <a:off x="7392960" y="4747320"/>
                <a:ext cx="2325600" cy="1081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𝐿</m:t>
                        </m:r>
                        <m:r>
                          <m:t xml:space="preserve">{</m:t>
                        </m:r>
                        <m:r>
                          <m:t xml:space="preserve">𝑒</m:t>
                        </m:r>
                      </m:e>
                      <m:sup>
                        <m:r>
                          <m:t xml:space="preserve">−</m:t>
                        </m:r>
                        <m:f>
                          <m:num>
                            <m:r>
                              <m:t xml:space="preserve">1</m:t>
                            </m:r>
                          </m:num>
                          <m:den>
                            <m:r>
                              <m:t xml:space="preserve">2</m:t>
                            </m:r>
                          </m:den>
                        </m:f>
                        <m:r>
                          <m:t xml:space="preserve">𝑡</m:t>
                        </m:r>
                      </m:sup>
                    </m:sSup>
                    <m:r>
                      <m:t xml:space="preserve">}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𝑠</m:t>
                        </m:r>
                        <m:r>
                          <m:t xml:space="preserve">+</m:t>
                        </m:r>
                        <m:f>
                          <m:num>
                            <m:r>
                              <m:t xml:space="preserve">1</m:t>
                            </m:r>
                          </m:num>
                          <m:den>
                            <m:r>
                              <m:t xml:space="preserve">2</m:t>
                            </m:r>
                          </m:den>
                        </m:f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108" name="CustomShape 8"/>
          <p:cNvSpPr/>
          <p:nvPr/>
        </p:nvSpPr>
        <p:spPr>
          <a:xfrm>
            <a:off x="10172520" y="4948560"/>
            <a:ext cx="7455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  .  . 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46800" y="10440"/>
            <a:ext cx="3801600" cy="767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1" lang="en-US" sz="4400" spc="-1" strike="noStrike">
                <a:solidFill>
                  <a:srgbClr val="843c0b"/>
                </a:solidFill>
                <a:latin typeface="Calibri Light"/>
              </a:rPr>
              <a:t>Linear Property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41280" y="723960"/>
            <a:ext cx="10515240" cy="1872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Statement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300240" y="2521440"/>
            <a:ext cx="1109520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If and  then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2" name="CustomShape 4"/>
          <p:cNvSpPr/>
          <p:nvPr/>
        </p:nvSpPr>
        <p:spPr>
          <a:xfrm>
            <a:off x="300240" y="2976120"/>
            <a:ext cx="14054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2060"/>
                </a:solidFill>
                <a:latin typeface="Calibri"/>
              </a:rPr>
              <a:t>Proof:</a:t>
            </a:r>
            <a:endParaRPr b="0" lang="en-IN" sz="24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3" name="Formula 5"/>
              <p:cNvSpPr txBox="1"/>
              <p:nvPr/>
            </p:nvSpPr>
            <p:spPr>
              <a:xfrm>
                <a:off x="2893320" y="3227760"/>
                <a:ext cx="4825440" cy="798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𝑓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</m:e>
                    </m:d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𝑠𝑡</m:t>
                            </m:r>
                          </m:sup>
                        </m:sSup>
                      </m:e>
                    </m:nary>
                    <m:r>
                      <m:t xml:space="preserve">𝑓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𝑡</m:t>
                        </m:r>
                      </m:e>
                    </m:d>
                    <m:r>
                      <m:t xml:space="preserve">𝑑𝑡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14" name="CustomShape 6"/>
          <p:cNvSpPr/>
          <p:nvPr/>
        </p:nvSpPr>
        <p:spPr>
          <a:xfrm>
            <a:off x="1060560" y="3396240"/>
            <a:ext cx="1705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We have</a:t>
            </a:r>
            <a:endParaRPr b="0" lang="en-IN" sz="24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5" name="Formula 7"/>
              <p:cNvSpPr txBox="1"/>
              <p:nvPr/>
            </p:nvSpPr>
            <p:spPr>
              <a:xfrm>
                <a:off x="1355040" y="4182120"/>
                <a:ext cx="6765120" cy="798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𝐿</m:t>
                    </m:r>
                    <m:d>
                      <m:dPr>
                        <m:begChr m:val="{"/>
                        <m:endChr m:val="}"/>
                      </m:dPr>
                      <m:e>
                        <m:sSub>
                          <m:e>
                            <m:r>
                              <m:t xml:space="preserve">𝐶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𝑓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  <m:r>
                          <m:t xml:space="preserve">+</m:t>
                        </m:r>
                        <m:sSub>
                          <m:e>
                            <m:r>
                              <m:t xml:space="preserve">𝐶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  <m:r>
                          <m:t xml:space="preserve">𝑔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</m:e>
                    </m:d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sSup>
                          <m:e>
                            <m:r>
                              <m:t xml:space="preserve">𝑒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𝑠𝑡</m:t>
                            </m:r>
                          </m:sup>
                        </m:sSup>
                      </m:e>
                    </m:nary>
                    <m:d>
                      <m:dPr>
                        <m:begChr m:val="{"/>
                        <m:endChr m:val="}"/>
                      </m:dPr>
                      <m:e>
                        <m:sSub>
                          <m:e>
                            <m:r>
                              <m:t xml:space="preserve">𝐶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𝑓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  <m:r>
                          <m:t xml:space="preserve">+</m:t>
                        </m:r>
                        <m:sSub>
                          <m:e>
                            <m:r>
                              <m:t xml:space="preserve">𝐶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  <m:r>
                          <m:t xml:space="preserve">𝑔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𝑡</m:t>
                            </m:r>
                          </m:e>
                        </m:d>
                      </m:e>
                    </m:d>
                    <m:r>
                      <m:t xml:space="preserve">𝑑𝑡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16" name="CustomShape 8"/>
          <p:cNvSpPr/>
          <p:nvPr/>
        </p:nvSpPr>
        <p:spPr>
          <a:xfrm>
            <a:off x="341280" y="4026600"/>
            <a:ext cx="1705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b050"/>
                </a:solidFill>
                <a:latin typeface="Calibri"/>
              </a:rPr>
              <a:t>LHS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7" name="CustomShape 9"/>
          <p:cNvSpPr/>
          <p:nvPr/>
        </p:nvSpPr>
        <p:spPr>
          <a:xfrm>
            <a:off x="3985200" y="4983120"/>
            <a:ext cx="584100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8" name="CustomShape 10"/>
          <p:cNvSpPr/>
          <p:nvPr/>
        </p:nvSpPr>
        <p:spPr>
          <a:xfrm>
            <a:off x="3985200" y="5589720"/>
            <a:ext cx="584100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9" name="CustomShape 11"/>
          <p:cNvSpPr/>
          <p:nvPr/>
        </p:nvSpPr>
        <p:spPr>
          <a:xfrm>
            <a:off x="3985200" y="6153480"/>
            <a:ext cx="362988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0" name="CustomShape 12"/>
          <p:cNvSpPr/>
          <p:nvPr/>
        </p:nvSpPr>
        <p:spPr>
          <a:xfrm>
            <a:off x="3998880" y="6488640"/>
            <a:ext cx="362988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1" name="CustomShape 13"/>
          <p:cNvSpPr/>
          <p:nvPr/>
        </p:nvSpPr>
        <p:spPr>
          <a:xfrm>
            <a:off x="7467480" y="6435720"/>
            <a:ext cx="1705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=</a:t>
            </a:r>
            <a:r>
              <a:rPr b="1" lang="en-US" sz="2400" spc="-1" strike="noStrike">
                <a:solidFill>
                  <a:srgbClr val="00b050"/>
                </a:solidFill>
                <a:latin typeface="Calibri"/>
              </a:rPr>
              <a:t>RHS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10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6" dur="10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" dur="10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10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3" dur="1000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1000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0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7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2" descr="https://lh5.googleusercontent.com/proxy/NIBhc1H3cZp8iqNOh-8D5kVSbfQ5c0GETiWqNKaAlol_hG5grvLS00bMiFMP8vXjN3K_KnBdXkfcQALso1gTPyJ8fIopbfT0wiPhaAOcDkmT9RMzlz60PUcm5-U"/>
          <p:cNvPicPr/>
          <p:nvPr/>
        </p:nvPicPr>
        <p:blipFill>
          <a:blip r:embed="rId1"/>
          <a:stretch/>
        </p:blipFill>
        <p:spPr>
          <a:xfrm>
            <a:off x="2406240" y="1146960"/>
            <a:ext cx="6976440" cy="4646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Application>LibreOffice/6.4.6.2$Linux_X86_64 LibreOffice_project/40$Build-2</Application>
  <Words>196</Words>
  <Paragraphs>42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2020-07-21T08:37:21Z</dcterms:created>
  <dc:creator>Suresh</dc:creator>
  <dc:description/>
  <dc:language>en-IN</dc:language>
  <cp:lastModifiedBy/>
  <dcterms:modified xsi:type="dcterms:W3CDTF">2020-10-12T19:06:08Z</dcterms:modified>
  <cp:revision>19</cp:revision>
  <dc:subject/>
  <dc:title>Department of Applied Mathematics and Computational Sciences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7</vt:i4>
  </property>
</Properties>
</file>